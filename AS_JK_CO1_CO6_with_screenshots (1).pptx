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320040"/>
            <a:ext cx="3108960" cy="3108960"/>
          </a:xfrm>
          <a:prstGeom prst="ellipse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0" y="2468880"/>
            <a:ext cx="749808" cy="1207008"/>
          </a:xfrm>
          <a:prstGeom prst="roundRect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74736" y="2368296"/>
            <a:ext cx="859536" cy="146304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56448" y="2862072"/>
            <a:ext cx="896112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800" b="1">
                <a:solidFill>
                  <a:srgbClr val="091024"/>
                </a:solidFill>
                <a:latin typeface="Aptos"/>
              </a:rPr>
              <a:t>ORGANIC</a:t>
            </a:r>
          </a:p>
        </p:txBody>
      </p:sp>
      <p:sp>
        <p:nvSpPr>
          <p:cNvPr id="6" name="Oval 5"/>
          <p:cNvSpPr/>
          <p:nvPr/>
        </p:nvSpPr>
        <p:spPr>
          <a:xfrm>
            <a:off x="8339327" y="3730752"/>
            <a:ext cx="164592" cy="16459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705088" y="3730752"/>
            <a:ext cx="164592" cy="16459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326880" y="2468880"/>
            <a:ext cx="749808" cy="1207008"/>
          </a:xfrm>
          <a:prstGeom prst="roundRect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272015" y="2368296"/>
            <a:ext cx="859536" cy="146304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53728" y="2862072"/>
            <a:ext cx="896112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800" b="1">
                <a:solidFill>
                  <a:srgbClr val="091024"/>
                </a:solidFill>
                <a:latin typeface="Aptos"/>
              </a:rPr>
              <a:t>PLASTIC</a:t>
            </a:r>
          </a:p>
        </p:txBody>
      </p:sp>
      <p:sp>
        <p:nvSpPr>
          <p:cNvPr id="11" name="Oval 10"/>
          <p:cNvSpPr/>
          <p:nvPr/>
        </p:nvSpPr>
        <p:spPr>
          <a:xfrm>
            <a:off x="9436607" y="3730752"/>
            <a:ext cx="164592" cy="16459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802367" y="3730752"/>
            <a:ext cx="164592" cy="16459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24160" y="2468880"/>
            <a:ext cx="749808" cy="1207008"/>
          </a:xfrm>
          <a:prstGeom prst="roundRect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369296" y="2368296"/>
            <a:ext cx="859536" cy="146304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51008" y="2862072"/>
            <a:ext cx="896112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800" b="1">
                <a:solidFill>
                  <a:srgbClr val="091024"/>
                </a:solidFill>
                <a:latin typeface="Aptos"/>
              </a:rPr>
              <a:t>METAL</a:t>
            </a:r>
          </a:p>
        </p:txBody>
      </p:sp>
      <p:sp>
        <p:nvSpPr>
          <p:cNvPr id="16" name="Oval 15"/>
          <p:cNvSpPr/>
          <p:nvPr/>
        </p:nvSpPr>
        <p:spPr>
          <a:xfrm>
            <a:off x="10533888" y="3730752"/>
            <a:ext cx="164592" cy="16459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899648" y="3730752"/>
            <a:ext cx="164592" cy="164592"/>
          </a:xfrm>
          <a:prstGeom prst="ellipse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21040" y="4343400"/>
            <a:ext cx="2240280" cy="658368"/>
          </a:xfrm>
          <a:prstGeom prst="round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012680" y="4096512"/>
            <a:ext cx="822960" cy="905256"/>
          </a:xfrm>
          <a:prstGeom prst="rect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131552" y="4215384"/>
            <a:ext cx="438912" cy="27432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41080" y="4800600"/>
            <a:ext cx="411480" cy="411480"/>
          </a:xfrm>
          <a:prstGeom prst="ellipse">
            <a:avLst/>
          </a:prstGeom>
          <a:solidFill>
            <a:srgbClr val="09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195560" y="4800600"/>
            <a:ext cx="411480" cy="411480"/>
          </a:xfrm>
          <a:prstGeom prst="ellipse">
            <a:avLst/>
          </a:prstGeom>
          <a:solidFill>
            <a:srgbClr val="09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520" y="731520"/>
            <a:ext cx="3017520" cy="347472"/>
          </a:xfrm>
          <a:prstGeom prst="roundRect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749808"/>
            <a:ext cx="301752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900" b="1">
                <a:solidFill>
                  <a:srgbClr val="091024"/>
                </a:solidFill>
                <a:latin typeface="Aptos"/>
              </a:rPr>
              <a:t>BEGINNER-FRIENDLY JAVA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1371600"/>
            <a:ext cx="7040880" cy="1417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3100" b="1">
                <a:solidFill>
                  <a:srgbClr val="FAFCFF"/>
                </a:solidFill>
                <a:latin typeface="Aptos"/>
              </a:rPr>
              <a:t>MUNICIPAL WASTE
COLLECTION OPTIMIZER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090672"/>
            <a:ext cx="6720840" cy="86868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700" b="0">
                <a:solidFill>
                  <a:srgbClr val="C4CFE5"/>
                </a:solidFill>
                <a:latin typeface="Aptos"/>
              </a:rPr>
              <a:t>A simple program that helps decide which bins need pickup and which type of truck should collect them.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370832"/>
            <a:ext cx="1645920" cy="347472"/>
          </a:xfrm>
          <a:prstGeom prst="roundRect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4389120"/>
            <a:ext cx="164592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900" b="1">
                <a:solidFill>
                  <a:srgbClr val="091024"/>
                </a:solidFill>
                <a:latin typeface="Aptos"/>
              </a:rPr>
              <a:t>CHECK FULLNESS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78608" y="4370832"/>
            <a:ext cx="1737360" cy="347472"/>
          </a:xfrm>
          <a:prstGeom prst="roundRect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78608" y="4389120"/>
            <a:ext cx="173736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900" b="1">
                <a:solidFill>
                  <a:srgbClr val="091024"/>
                </a:solidFill>
                <a:latin typeface="Aptos"/>
              </a:rPr>
              <a:t>CHOOSE PRIORITY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98848" y="4370832"/>
            <a:ext cx="1508760" cy="347472"/>
          </a:xfrm>
          <a:prstGeom prst="roundRect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98848" y="4389120"/>
            <a:ext cx="150876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900" b="1">
                <a:solidFill>
                  <a:srgbClr val="091024"/>
                </a:solidFill>
                <a:latin typeface="Aptos"/>
              </a:rPr>
              <a:t>ASSIGN TRUCK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943600"/>
            <a:ext cx="8412480" cy="2560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000" b="0">
                <a:solidFill>
                  <a:srgbClr val="FAFCFF"/>
                </a:solidFill>
                <a:latin typeface="Aptos"/>
              </a:rPr>
              <a:t>Team No: __________     Student names &amp; roll numbers: ______________________________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743200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2CDCBE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669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10789920" cy="43891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What the program does, in three easy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3429000" cy="160020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109728" cy="1600200"/>
          </a:xfrm>
          <a:prstGeom prst="rect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185415"/>
            <a:ext cx="438912" cy="438912"/>
          </a:xfrm>
          <a:prstGeom prst="ellipse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438912" cy="34747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300" b="1">
                <a:solidFill>
                  <a:srgbClr val="091024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67128"/>
            <a:ext cx="2450592" cy="38404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"/>
              </a:rPr>
              <a:t>1.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60904"/>
            <a:ext cx="2926080" cy="7955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Enter the number of bins, fullness percentage and waste 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429000" cy="160020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65960"/>
            <a:ext cx="109728" cy="1600200"/>
          </a:xfrm>
          <a:prstGeom prst="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2185415"/>
            <a:ext cx="438912" cy="438912"/>
          </a:xfrm>
          <a:prstGeom prst="ellipse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212848"/>
            <a:ext cx="438912" cy="34747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300" b="1">
                <a:solidFill>
                  <a:srgbClr val="091024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167128"/>
            <a:ext cx="2450592" cy="38404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"/>
              </a:rPr>
              <a:t>2.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660904"/>
            <a:ext cx="2926080" cy="7955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The program checks how full each bin 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965960"/>
            <a:ext cx="3429000" cy="160020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965960"/>
            <a:ext cx="109728" cy="1600200"/>
          </a:xfrm>
          <a:prstGeom prst="rect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75320" y="2185415"/>
            <a:ext cx="438912" cy="438912"/>
          </a:xfrm>
          <a:prstGeom prst="ellipse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2212848"/>
            <a:ext cx="438912" cy="34747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300" b="1">
                <a:solidFill>
                  <a:srgbClr val="091024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167128"/>
            <a:ext cx="2450592" cy="38404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"/>
              </a:rPr>
              <a:t>3.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60904"/>
            <a:ext cx="2926080" cy="7955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It shows pickup priority and the suitable truck type.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60520" y="2743200"/>
            <a:ext cx="182880" cy="0"/>
          </a:xfrm>
          <a:prstGeom prst="line">
            <a:avLst/>
          </a:prstGeom>
          <a:ln w="30480">
            <a:solidFill>
              <a:srgbClr val="2C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18120" y="2743200"/>
            <a:ext cx="182880" cy="0"/>
          </a:xfrm>
          <a:prstGeom prst="line">
            <a:avLst/>
          </a:prstGeom>
          <a:ln w="30480">
            <a:solidFill>
              <a:srgbClr val="2C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5840" y="4251960"/>
            <a:ext cx="10149840" cy="10058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80160" y="4480560"/>
            <a:ext cx="137160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FFD35C"/>
                </a:solidFill>
                <a:latin typeface="Aptos"/>
              </a:rPr>
              <a:t>MAIN AIM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407408"/>
            <a:ext cx="7863840" cy="43891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700" b="1">
                <a:solidFill>
                  <a:srgbClr val="FAFCFF"/>
                </a:solidFill>
                <a:latin typeface="Aptos"/>
              </a:rPr>
              <a:t>Make waste collection decisions easier, clearer and more organized.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743200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FF7791"/>
                </a:solidFill>
                <a:latin typeface="Apto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669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Why is this project needed?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10789920" cy="43891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Manual collection can waste time when workers do not know which bins need pickup.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29000" cy="173736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9728" cy="1737360"/>
          </a:xfrm>
          <a:prstGeom prst="rect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139696"/>
            <a:ext cx="438912" cy="438912"/>
          </a:xfrm>
          <a:prstGeom prst="ellipse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38912" cy="34747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300" b="1">
                <a:solidFill>
                  <a:srgbClr val="091024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21408"/>
            <a:ext cx="2450592" cy="38404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"/>
              </a:rPr>
              <a:t>NO CLEAR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15184"/>
            <a:ext cx="2926080" cy="93268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A nearly empty bin may be collected before a full bin.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429000" cy="173736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109728" cy="1737360"/>
          </a:xfrm>
          <a:prstGeom prst="rect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2139696"/>
            <a:ext cx="438912" cy="438912"/>
          </a:xfrm>
          <a:prstGeom prst="ellipse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167128"/>
            <a:ext cx="438912" cy="34747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300" b="1">
                <a:solidFill>
                  <a:srgbClr val="091024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121408"/>
            <a:ext cx="2450592" cy="38404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"/>
              </a:rPr>
              <a:t>EXTRA FUEL &amp;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615184"/>
            <a:ext cx="2926080" cy="93268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Unnecessary trips increase travel and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920240"/>
            <a:ext cx="3429000" cy="173736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920240"/>
            <a:ext cx="109728" cy="1737360"/>
          </a:xfrm>
          <a:prstGeom prst="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75320" y="2139696"/>
            <a:ext cx="438912" cy="438912"/>
          </a:xfrm>
          <a:prstGeom prst="ellipse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2167128"/>
            <a:ext cx="438912" cy="34747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300" b="1">
                <a:solidFill>
                  <a:srgbClr val="091024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121408"/>
            <a:ext cx="2450592" cy="38404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"/>
              </a:rPr>
              <a:t>WASTE MIX-UP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15184"/>
            <a:ext cx="2926080" cy="93268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Different waste types may need different trucks.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97680"/>
            <a:ext cx="137160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2CDCBE"/>
                </a:solidFill>
                <a:latin typeface="Aptos"/>
              </a:rPr>
              <a:t>THE 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224528"/>
            <a:ext cx="8595360" cy="43891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700" b="1">
                <a:solidFill>
                  <a:srgbClr val="FAFCFF"/>
                </a:solidFill>
                <a:latin typeface="Aptos"/>
              </a:rPr>
              <a:t>Collect urgent bins first and identify the right truck for each waste type.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743200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2CDCBE"/>
                </a:solidFill>
                <a:latin typeface="Aptos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669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How does our program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10789920" cy="43891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It uses information entered by the user to make simple collection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3291840" cy="19202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93392" y="2304288"/>
            <a:ext cx="914400" cy="914400"/>
          </a:xfrm>
          <a:prstGeom prst="ellipse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93392" y="2514600"/>
            <a:ext cx="91440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2200" b="1">
                <a:solidFill>
                  <a:srgbClr val="091024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64992"/>
            <a:ext cx="292608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500" b="1">
                <a:solidFill>
                  <a:srgbClr val="2CDCBE"/>
                </a:solidFill>
                <a:latin typeface="Aptos"/>
              </a:rPr>
              <a:t>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57600"/>
            <a:ext cx="283464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100" b="0">
                <a:solidFill>
                  <a:srgbClr val="C4CFE5"/>
                </a:solidFill>
                <a:latin typeface="Aptos"/>
              </a:rPr>
              <a:t>Read the bin fullness.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60520" y="2971800"/>
            <a:ext cx="182880" cy="0"/>
          </a:xfrm>
          <a:prstGeom prst="line">
            <a:avLst/>
          </a:prstGeom>
          <a:ln w="30480">
            <a:solidFill>
              <a:srgbClr val="2C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0" y="2057400"/>
            <a:ext cx="3291840" cy="19202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559552" y="2304288"/>
            <a:ext cx="914400" cy="914400"/>
          </a:xfrm>
          <a:prstGeom prst="ellipse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59552" y="2514600"/>
            <a:ext cx="91440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2200" b="1">
                <a:solidFill>
                  <a:srgbClr val="091024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64992"/>
            <a:ext cx="292608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500" b="1">
                <a:solidFill>
                  <a:srgbClr val="FFD35C"/>
                </a:solidFill>
                <a:latin typeface="Aptos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657600"/>
            <a:ext cx="283464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100" b="0">
                <a:solidFill>
                  <a:srgbClr val="C4CFE5"/>
                </a:solidFill>
                <a:latin typeface="Aptos"/>
              </a:rPr>
              <a:t>Set the pickup priority.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26679" y="2971800"/>
            <a:ext cx="182881" cy="0"/>
          </a:xfrm>
          <a:prstGeom prst="line">
            <a:avLst/>
          </a:prstGeom>
          <a:ln w="30480">
            <a:solidFill>
              <a:srgbClr val="2C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55279" y="2057400"/>
            <a:ext cx="3291840" cy="19202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25711" y="2304288"/>
            <a:ext cx="914400" cy="914400"/>
          </a:xfrm>
          <a:prstGeom prst="ellipse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25711" y="2514600"/>
            <a:ext cx="91440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2200" b="1">
                <a:solidFill>
                  <a:srgbClr val="091024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3364992"/>
            <a:ext cx="292608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500" b="1">
                <a:solidFill>
                  <a:srgbClr val="FF7791"/>
                </a:solidFill>
                <a:latin typeface="Aptos"/>
              </a:rPr>
              <a:t>ASSIGN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657600"/>
            <a:ext cx="283464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100" b="0">
                <a:solidFill>
                  <a:srgbClr val="C4CFE5"/>
                </a:solidFill>
                <a:latin typeface="Aptos"/>
              </a:rPr>
              <a:t>Choose the truck by waste type.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o_pan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o_pane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o_pane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o_pane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o_pane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o_panel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743200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4FB7FF"/>
                </a:solidFill>
                <a:latin typeface="Aptos"/>
              </a:rP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669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How the whole program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10789920" cy="43891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Follow the steps from the user's input to the final result.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828800" cy="12344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70432" y="2011680"/>
            <a:ext cx="566928" cy="566928"/>
          </a:xfrm>
          <a:prstGeom prst="ellipse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0432" y="2157984"/>
            <a:ext cx="566928" cy="2286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500" b="1">
                <a:solidFill>
                  <a:srgbClr val="091024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1609344" cy="5486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200" b="1">
                <a:solidFill>
                  <a:srgbClr val="FAFCFF"/>
                </a:solidFill>
                <a:latin typeface="Aptos"/>
              </a:rPr>
              <a:t>Enter number
of bins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5728" y="2944368"/>
            <a:ext cx="365760" cy="0"/>
          </a:xfrm>
          <a:prstGeom prst="line">
            <a:avLst/>
          </a:prstGeom>
          <a:ln w="30480">
            <a:solidFill>
              <a:srgbClr val="2C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2331720"/>
            <a:ext cx="1828800" cy="12344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02152" y="2011680"/>
            <a:ext cx="566928" cy="566928"/>
          </a:xfrm>
          <a:prstGeom prst="ellipse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02152" y="2157984"/>
            <a:ext cx="566928" cy="2286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500" b="1">
                <a:solidFill>
                  <a:srgbClr val="09102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743200"/>
            <a:ext cx="1609344" cy="5486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200" b="1">
                <a:solidFill>
                  <a:srgbClr val="FAFCFF"/>
                </a:solidFill>
                <a:latin typeface="Aptos"/>
              </a:rPr>
              <a:t>Enter fullness
and waste type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27448" y="2944368"/>
            <a:ext cx="365760" cy="0"/>
          </a:xfrm>
          <a:prstGeom prst="line">
            <a:avLst/>
          </a:prstGeom>
          <a:ln w="30480">
            <a:solidFill>
              <a:srgbClr val="2C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12079" y="2331720"/>
            <a:ext cx="1828800" cy="12344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33871" y="2011680"/>
            <a:ext cx="566928" cy="566928"/>
          </a:xfrm>
          <a:prstGeom prst="ellipse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33871" y="2157984"/>
            <a:ext cx="566928" cy="2286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500" b="1">
                <a:solidFill>
                  <a:srgbClr val="091024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7" y="2743200"/>
            <a:ext cx="1609344" cy="5486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200" b="1">
                <a:solidFill>
                  <a:srgbClr val="FAFCFF"/>
                </a:solidFill>
                <a:latin typeface="Aptos"/>
              </a:rPr>
              <a:t>Decide pickup
priority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59167" y="2944368"/>
            <a:ext cx="365760" cy="0"/>
          </a:xfrm>
          <a:prstGeom prst="line">
            <a:avLst/>
          </a:prstGeom>
          <a:ln w="30480">
            <a:solidFill>
              <a:srgbClr val="2C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43800" y="2331720"/>
            <a:ext cx="1828800" cy="12344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165592" y="2011680"/>
            <a:ext cx="566928" cy="566928"/>
          </a:xfrm>
          <a:prstGeom prst="ellipse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65592" y="2157984"/>
            <a:ext cx="566928" cy="2286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500" b="1">
                <a:solidFill>
                  <a:srgbClr val="091024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2743200"/>
            <a:ext cx="1609344" cy="5486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200" b="1">
                <a:solidFill>
                  <a:srgbClr val="FAFCFF"/>
                </a:solidFill>
                <a:latin typeface="Aptos"/>
              </a:rPr>
              <a:t>Choose waste
truck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90888" y="2944368"/>
            <a:ext cx="365760" cy="0"/>
          </a:xfrm>
          <a:prstGeom prst="line">
            <a:avLst/>
          </a:prstGeom>
          <a:ln w="30480">
            <a:solidFill>
              <a:srgbClr val="2C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75519" y="2331720"/>
            <a:ext cx="1828800" cy="12344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97311" y="2011680"/>
            <a:ext cx="566928" cy="566928"/>
          </a:xfrm>
          <a:prstGeom prst="ellipse">
            <a:avLst/>
          </a:prstGeom>
          <a:solidFill>
            <a:srgbClr val="70E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97311" y="2157984"/>
            <a:ext cx="566928" cy="2286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500" b="1">
                <a:solidFill>
                  <a:srgbClr val="091024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5247" y="2743200"/>
            <a:ext cx="1609344" cy="5486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200" b="1">
                <a:solidFill>
                  <a:srgbClr val="FAFCFF"/>
                </a:solidFill>
                <a:latin typeface="Aptos"/>
              </a:rPr>
              <a:t>Show result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4343400"/>
            <a:ext cx="9875520" cy="7772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17320" y="4572000"/>
            <a:ext cx="932688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600" b="1">
                <a:solidFill>
                  <a:srgbClr val="2CDCBE"/>
                </a:solidFill>
                <a:latin typeface="Aptos"/>
              </a:rPr>
              <a:t>The program repeats steps 2–5 for every bin.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743200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2CDCBE"/>
                </a:solidFill>
                <a:latin typeface="Aptos"/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669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A sample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10789920" cy="43891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These made-up values show how the rules work. Replace them with your actual program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3429000" cy="246888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429000" cy="502920"/>
          </a:xfrm>
          <a:prstGeom prst="roundRect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3154680" cy="2560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400" b="1">
                <a:solidFill>
                  <a:srgbClr val="091024"/>
                </a:solidFill>
                <a:latin typeface="Aptos"/>
              </a:rPr>
              <a:t>Bin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880360" cy="7315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500" b="0">
                <a:solidFill>
                  <a:srgbClr val="FAFCFF"/>
                </a:solidFill>
                <a:latin typeface="Aptos"/>
              </a:rPr>
              <a:t>Fullness: 35%
Waste: Organic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2971800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300" b="1">
                <a:solidFill>
                  <a:srgbClr val="2CDCBE"/>
                </a:solidFill>
                <a:latin typeface="Aptos"/>
              </a:rPr>
              <a:t>Decision: No pickup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965960"/>
            <a:ext cx="3429000" cy="246888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26280" y="1965960"/>
            <a:ext cx="3429000" cy="502920"/>
          </a:xfrm>
          <a:prstGeom prst="roundRect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084831"/>
            <a:ext cx="3154680" cy="2560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400" b="1">
                <a:solidFill>
                  <a:srgbClr val="091024"/>
                </a:solidFill>
                <a:latin typeface="Aptos"/>
              </a:rPr>
              <a:t>Bin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743200"/>
            <a:ext cx="2880360" cy="7315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500" b="0">
                <a:solidFill>
                  <a:srgbClr val="FAFCFF"/>
                </a:solidFill>
                <a:latin typeface="Aptos"/>
              </a:rPr>
              <a:t>Fullness: 72%
Waste: Plastic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94760"/>
            <a:ext cx="2971800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300" b="1">
                <a:solidFill>
                  <a:srgbClr val="FFD35C"/>
                </a:solidFill>
                <a:latin typeface="Aptos"/>
              </a:rPr>
              <a:t>Decision: Schedule soon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965960"/>
            <a:ext cx="3429000" cy="246888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21040" y="1965960"/>
            <a:ext cx="3429000" cy="502920"/>
          </a:xfrm>
          <a:prstGeom prst="roundRect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2084831"/>
            <a:ext cx="3154680" cy="25603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400" b="1">
                <a:solidFill>
                  <a:srgbClr val="091024"/>
                </a:solidFill>
                <a:latin typeface="Aptos"/>
              </a:rPr>
              <a:t>Bin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43200"/>
            <a:ext cx="2880360" cy="7315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500" b="0">
                <a:solidFill>
                  <a:srgbClr val="FAFCFF"/>
                </a:solidFill>
                <a:latin typeface="Aptos"/>
              </a:rPr>
              <a:t>Fullness: 91%
Waste: Metal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794760"/>
            <a:ext cx="2971800" cy="36576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300" b="1">
                <a:solidFill>
                  <a:srgbClr val="FF7791"/>
                </a:solidFill>
                <a:latin typeface="Aptos"/>
              </a:rPr>
              <a:t>Decision: Urgent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987552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The priority follows the thresholds shown on the CO 2 slide.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743200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2CDCBE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669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What have we learned?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10789920" cy="43891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The project uses simple Java ideas to solve a practical community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57400"/>
            <a:ext cx="3200400" cy="16916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057400" y="2267712"/>
            <a:ext cx="914400" cy="914400"/>
          </a:xfrm>
          <a:prstGeom prst="ellipse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2496312"/>
            <a:ext cx="91440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2200" b="1">
                <a:solidFill>
                  <a:srgbClr val="091024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283464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400" b="1">
                <a:solidFill>
                  <a:srgbClr val="2CDCBE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283464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100" b="0">
                <a:solidFill>
                  <a:srgbClr val="C4CFE5"/>
                </a:solidFill>
                <a:latin typeface="Aptos"/>
              </a:rPr>
              <a:t>Read bin 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057400"/>
            <a:ext cx="3200400" cy="16916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06440" y="2267712"/>
            <a:ext cx="914400" cy="914400"/>
          </a:xfrm>
          <a:prstGeom prst="ellipse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06440" y="2496312"/>
            <a:ext cx="91440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2200" b="1">
                <a:solidFill>
                  <a:srgbClr val="091024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337560"/>
            <a:ext cx="283464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400" b="1">
                <a:solidFill>
                  <a:srgbClr val="FFD35C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657600"/>
            <a:ext cx="283464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100" b="0">
                <a:solidFill>
                  <a:srgbClr val="C4CFE5"/>
                </a:solidFill>
                <a:latin typeface="Aptos"/>
              </a:rPr>
              <a:t>Check how full it 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057400"/>
            <a:ext cx="3200400" cy="169164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555480" y="2267712"/>
            <a:ext cx="914400" cy="914400"/>
          </a:xfrm>
          <a:prstGeom prst="ellipse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55480" y="2496312"/>
            <a:ext cx="91440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2200" b="1">
                <a:solidFill>
                  <a:srgbClr val="091024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59" y="3337560"/>
            <a:ext cx="283464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400" b="1">
                <a:solidFill>
                  <a:srgbClr val="FF7791"/>
                </a:solidFill>
                <a:latin typeface="Aptos"/>
              </a:rPr>
              <a:t>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59" y="3657600"/>
            <a:ext cx="283464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100" b="0">
                <a:solidFill>
                  <a:srgbClr val="C4CFE5"/>
                </a:solidFill>
                <a:latin typeface="Aptos"/>
              </a:rPr>
              <a:t>Choose the right truck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617720"/>
            <a:ext cx="10058400" cy="86868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25880" y="4864608"/>
            <a:ext cx="950976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400" b="1">
                <a:solidFill>
                  <a:srgbClr val="FAFCFF"/>
                </a:solidFill>
                <a:latin typeface="Aptos"/>
              </a:rPr>
              <a:t>Future idea: add sensors and map-based routing to make the system smarter.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743200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4FB7FF"/>
                </a:solidFill>
                <a:latin typeface="Aptos"/>
              </a:rPr>
              <a:t>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669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Program code and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10789920" cy="43891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Screenshot 1 shows the complete Java source code; Screenshot 2 shows the program run with sample input.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14 / 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553" y="2000000"/>
            <a:ext cx="6634612" cy="38404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"/>
              </a:rPr>
              <a:t>SCREENSHOT 1: JAVA SOURCE CODE</a:t>
            </a:r>
          </a:p>
        </p:txBody>
      </p:sp>
      <p:pic>
        <p:nvPicPr>
          <p:cNvPr id="23" name="Screenshot 1 - Java source code" descr="Screenshot 1 - Java source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53" y="2420000"/>
            <a:ext cx="6634612" cy="339000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5" name="TextBox 12"/>
          <p:cNvSpPr txBox="1"/>
          <p:nvPr/>
        </p:nvSpPr>
        <p:spPr>
          <a:xfrm>
            <a:off x="7583165" y="2000000"/>
            <a:ext cx="4021241" cy="38404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600" b="1">
                <a:solidFill>
                  <a:srgbClr val="FAFCFF"/>
                </a:solidFill>
                <a:latin typeface="Aptos"/>
              </a:rPr>
              <a:t>SCREENSHOT 2: PROGRAM OUTPUT</a:t>
            </a:r>
          </a:p>
        </p:txBody>
      </p:sp>
      <p:pic>
        <p:nvPicPr>
          <p:cNvPr id="24" name="Screenshot 2 - Program output" descr="Screenshot 2 - Program out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165" y="2420000"/>
            <a:ext cx="4021241" cy="339000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92608"/>
            <a:ext cx="2743200" cy="29260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200" b="1">
                <a:solidFill>
                  <a:srgbClr val="B78FFF"/>
                </a:solidFill>
                <a:latin typeface="Aptos"/>
              </a:rPr>
              <a:t>SUBMISSION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94944"/>
            <a:ext cx="10972800" cy="56692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2800" b="1">
                <a:solidFill>
                  <a:srgbClr val="FAFCFF"/>
                </a:solidFill>
                <a:latin typeface="Aptos"/>
              </a:rPr>
              <a:t>Geo-tag photo and GitHub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10789920" cy="438912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Complete these details before presenting or submitting.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4663440" cy="320040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526280"/>
            <a:ext cx="402336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1100" b="1">
                <a:solidFill>
                  <a:srgbClr val="FAFCFF"/>
                </a:solidFill>
                <a:latin typeface="Aptos"/>
              </a:rPr>
              <a:t>GEO-TAGGED PROJECT PHOTO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874519"/>
            <a:ext cx="5303520" cy="320040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55080" y="2194560"/>
            <a:ext cx="2057400" cy="347472"/>
          </a:xfrm>
          <a:prstGeom prst="roundRect">
            <a:avLst/>
          </a:prstGeom>
          <a:solidFill>
            <a:srgbClr val="70E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212848"/>
            <a:ext cx="2057400" cy="27432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900" b="1">
                <a:solidFill>
                  <a:srgbClr val="091024"/>
                </a:solidFill>
                <a:latin typeface="Aptos"/>
              </a:rPr>
              <a:t>GITHUB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743200"/>
            <a:ext cx="1828800" cy="32004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700" b="1">
                <a:solidFill>
                  <a:srgbClr val="FAFCFF"/>
                </a:solidFill>
                <a:latin typeface="Aptos"/>
              </a:rPr>
              <a:t>Include: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54680"/>
            <a:ext cx="3291840" cy="11430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1300" b="0">
                <a:solidFill>
                  <a:srgbClr val="C4CFE5"/>
                </a:solidFill>
                <a:latin typeface="Aptos"/>
              </a:rPr>
              <a:t>• Java source code
• Short README
• Sample input and output
• Screenshots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87588"/>
            <a:ext cx="4297680" cy="243143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r>
              <a:rPr sz="1100" b="1" dirty="0">
                <a:solidFill>
                  <a:srgbClr val="FFD35C"/>
                </a:solidFill>
                <a:latin typeface="Aptos"/>
              </a:rPr>
              <a:t>GitHub URL: </a:t>
            </a:r>
            <a:r>
              <a:rPr lang="en-IN" sz="1100" b="1" dirty="0" smtClean="0">
                <a:solidFill>
                  <a:srgbClr val="FFD35C"/>
                </a:solidFill>
                <a:latin typeface="Aptos"/>
              </a:rPr>
              <a:t>https</a:t>
            </a:r>
            <a:r>
              <a:rPr lang="en-IN" sz="1100" b="1">
                <a:solidFill>
                  <a:srgbClr val="FFD35C"/>
                </a:solidFill>
                <a:latin typeface="Aptos"/>
              </a:rPr>
              <a:t>://</a:t>
            </a:r>
            <a:r>
              <a:rPr lang="en-IN" sz="1100" b="1" smtClean="0">
                <a:solidFill>
                  <a:srgbClr val="FFD35C"/>
                </a:solidFill>
                <a:latin typeface="Aptos"/>
              </a:rPr>
              <a:t>github.com/koneysaijeshwin/JAVA-EXPO</a:t>
            </a:r>
            <a:endParaRPr sz="1100" b="1" dirty="0">
              <a:solidFill>
                <a:srgbClr val="FFD35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89120" y="5532120"/>
            <a:ext cx="3383280" cy="45720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ctr"/>
            <a:r>
              <a:rPr sz="2500" b="1">
                <a:solidFill>
                  <a:srgbClr val="2CDCBE"/>
                </a:solidFill>
                <a:latin typeface="Aptos"/>
              </a:rPr>
              <a:t>THANK YOU!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73952"/>
            <a:ext cx="10927080" cy="16459"/>
          </a:xfrm>
          <a:prstGeom prst="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64008" tIns="36576" rIns="64008" bIns="36576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15 / 17</a:t>
            </a:r>
          </a:p>
        </p:txBody>
      </p:sp>
      <p:pic>
        <p:nvPicPr>
          <p:cNvPr id="21" name="Geo-tagged project photo" descr="Geo-tagged photo of the project team, Hyderabad, 16/10/20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80" y="2040000"/>
            <a:ext cx="3200000" cy="240000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>
                <a:solidFill>
                  <a:srgbClr val="2CDCBE"/>
                </a:solidFill>
                <a:latin typeface="Aptos"/>
              </a:rPr>
              <a:t>ALL COs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500" b="1">
                <a:solidFill>
                  <a:srgbClr val="FAFCFF"/>
                </a:solidFill>
                <a:latin typeface="Aptos"/>
              </a:rPr>
              <a:t>How the concepts connect in one Java program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16 / 17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1600200"/>
            <a:ext cx="5120640" cy="1115568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87552" y="1764792"/>
            <a:ext cx="777240" cy="329184"/>
          </a:xfrm>
          <a:prstGeom prst="roundRect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4"/>
                </a:solidFill>
                <a:latin typeface="Aptos"/>
              </a:rPr>
              <a:t>CO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01952" y="1709928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AFCFF"/>
                </a:solidFill>
                <a:latin typeface="Aptos"/>
              </a:rPr>
              <a:t>Taking input from the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01952" y="2130552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4CFE5"/>
                </a:solidFill>
                <a:latin typeface="Aptos"/>
              </a:rPr>
              <a:t>`Scanner` and input validation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1600200"/>
            <a:ext cx="5120640" cy="1115568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656832" y="1764792"/>
            <a:ext cx="777240" cy="329184"/>
          </a:xfrm>
          <a:prstGeom prst="roundRect">
            <a:avLst/>
          </a:prstGeom>
          <a:solidFill>
            <a:srgbClr val="FF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4"/>
                </a:solidFill>
                <a:latin typeface="Aptos"/>
              </a:rPr>
              <a:t>CO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71232" y="1709928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AFCFF"/>
                </a:solidFill>
                <a:latin typeface="Aptos"/>
              </a:rPr>
              <a:t>Deciding pickup priority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71232" y="2130552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4CFE5"/>
                </a:solidFill>
                <a:latin typeface="Aptos"/>
              </a:rPr>
              <a:t>`if`, `else if`, `else`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3017520"/>
            <a:ext cx="5120640" cy="1115568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87552" y="3182112"/>
            <a:ext cx="777240" cy="329184"/>
          </a:xfrm>
          <a:prstGeom prst="roundRect">
            <a:avLst/>
          </a:prstGeom>
          <a:solidFill>
            <a:srgbClr val="4F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4"/>
                </a:solidFill>
                <a:latin typeface="Aptos"/>
              </a:rPr>
              <a:t>CO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01952" y="3127248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AFCFF"/>
                </a:solidFill>
                <a:latin typeface="Aptos"/>
              </a:rPr>
              <a:t>Repeating steps for every bin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01952" y="3547872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4CFE5"/>
                </a:solidFill>
                <a:latin typeface="Aptos"/>
              </a:rPr>
              <a:t>`for` loop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3017520"/>
            <a:ext cx="5120640" cy="1115568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656832" y="3182112"/>
            <a:ext cx="777240" cy="329184"/>
          </a:xfrm>
          <a:prstGeom prst="roundRect">
            <a:avLst/>
          </a:prstGeom>
          <a:solidFill>
            <a:srgbClr val="B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4"/>
                </a:solidFill>
                <a:latin typeface="Aptos"/>
              </a:rPr>
              <a:t>CO 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71232" y="3127248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AFCFF"/>
                </a:solidFill>
                <a:latin typeface="Aptos"/>
              </a:rPr>
              <a:t>Keeping bin details together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71232" y="3547872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4CFE5"/>
                </a:solidFill>
                <a:latin typeface="Aptos"/>
              </a:rPr>
              <a:t>`Bin` class, constructor and objects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" y="4434840"/>
            <a:ext cx="5120640" cy="1115568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87552" y="4599431"/>
            <a:ext cx="777240" cy="329184"/>
          </a:xfrm>
          <a:prstGeom prst="roundRect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4"/>
                </a:solidFill>
                <a:latin typeface="Aptos"/>
              </a:rPr>
              <a:t>CO 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01952" y="4544568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AFCFF"/>
                </a:solidFill>
                <a:latin typeface="Aptos"/>
              </a:rPr>
              <a:t>Recognizing waste types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01952" y="4965192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4CFE5"/>
                </a:solidFill>
                <a:latin typeface="Aptos"/>
              </a:rPr>
              <a:t>`String` and `switch`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92240" y="4434840"/>
            <a:ext cx="5120640" cy="1115568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656832" y="4599431"/>
            <a:ext cx="777240" cy="329184"/>
          </a:xfrm>
          <a:prstGeom prst="roundRect">
            <a:avLst/>
          </a:prstGeom>
          <a:solidFill>
            <a:srgbClr val="70E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91024"/>
                </a:solidFill>
                <a:latin typeface="Aptos"/>
              </a:rPr>
              <a:t>CO 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71232" y="4544568"/>
            <a:ext cx="3840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AFCFF"/>
                </a:solidFill>
                <a:latin typeface="Aptos"/>
              </a:rPr>
              <a:t>Grouping bins in a collection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71232" y="4965192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C4CFE5"/>
                </a:solidFill>
                <a:latin typeface="Aptos"/>
              </a:rPr>
              <a:t>`ArrayList&lt;Bin&gt;` and enhanced `for` loop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>
                <a:solidFill>
                  <a:srgbClr val="4FB7FF"/>
                </a:solidFill>
                <a:latin typeface="Aptos"/>
              </a:rPr>
              <a:t>RUN THE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500" b="1">
                <a:solidFill>
                  <a:srgbClr val="FAFCFF"/>
                </a:solidFill>
                <a:latin typeface="Aptos"/>
              </a:rPr>
              <a:t>How to run the complete Java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737360"/>
            <a:ext cx="10378440" cy="86868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" y="1920240"/>
            <a:ext cx="502920" cy="502920"/>
          </a:xfrm>
          <a:prstGeom prst="ellipse">
            <a:avLst/>
          </a:prstGeom>
          <a:solidFill>
            <a:srgbClr val="2C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011679"/>
            <a:ext cx="50292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1">
                <a:solidFill>
                  <a:srgbClr val="091024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47088"/>
            <a:ext cx="20574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FAFCFF"/>
                </a:solidFill>
                <a:latin typeface="Aptos"/>
              </a:rPr>
              <a:t>1. Save the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847088"/>
            <a:ext cx="70408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Save the source as MunicipalWasteCollectionOptimizer.java.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880360"/>
            <a:ext cx="10378440" cy="86868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1560" y="3063240"/>
            <a:ext cx="502920" cy="502920"/>
          </a:xfrm>
          <a:prstGeom prst="ellipse">
            <a:avLst/>
          </a:prstGeom>
          <a:solidFill>
            <a:srgbClr val="FFD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79"/>
            <a:ext cx="50292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1">
                <a:solidFill>
                  <a:srgbClr val="091024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990088"/>
            <a:ext cx="20574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FAFCFF"/>
                </a:solidFill>
                <a:latin typeface="Aptos"/>
              </a:rPr>
              <a:t>2. Compile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990088"/>
            <a:ext cx="70408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Open a terminal in that folder and run: javac MunicipalWasteCollectionOptimizer.java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023360"/>
            <a:ext cx="10378440" cy="868680"/>
          </a:xfrm>
          <a:prstGeom prst="roundRect">
            <a:avLst/>
          </a:prstGeom>
          <a:solidFill>
            <a:srgbClr val="1F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51560" y="4206240"/>
            <a:ext cx="502920" cy="502920"/>
          </a:xfrm>
          <a:prstGeom prst="ellipse">
            <a:avLst/>
          </a:prstGeom>
          <a:solidFill>
            <a:srgbClr val="70E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297680"/>
            <a:ext cx="50292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1400" b="1">
                <a:solidFill>
                  <a:srgbClr val="091024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133088"/>
            <a:ext cx="20574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>
                <a:solidFill>
                  <a:srgbClr val="FAFCFF"/>
                </a:solidFill>
                <a:latin typeface="Aptos"/>
              </a:rPr>
              <a:t>3.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133088"/>
            <a:ext cx="70408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0">
                <a:solidFill>
                  <a:srgbClr val="C4CFE5"/>
                </a:solidFill>
                <a:latin typeface="Aptos"/>
              </a:rPr>
              <a:t>Type: java MunicipalWasteCollectionOptimizer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0584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200" b="1">
                <a:solidFill>
                  <a:srgbClr val="FFD35C"/>
                </a:solidFill>
                <a:latin typeface="Aptos"/>
              </a:rPr>
              <a:t>Note: the examples on CO slides are short teaching snippets. Use the complete .java file for the full working program.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9672"/>
            <a:ext cx="7315200" cy="1828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800" b="1">
                <a:solidFill>
                  <a:srgbClr val="C4CFE5"/>
                </a:solidFill>
                <a:latin typeface="Aptos"/>
              </a:rPr>
              <a:t>MUNICIPAL WASTE COLLECTION OPTIMIZER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900" b="1">
                <a:solidFill>
                  <a:srgbClr val="C4CFE5"/>
                </a:solidFill>
                <a:latin typeface="Aptos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721</Words>
  <Application>Microsoft Office PowerPoint</Application>
  <PresentationFormat>Widescreen</PresentationFormat>
  <Paragraphs>164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Jesh</cp:lastModifiedBy>
  <cp:revision>2</cp:revision>
  <dcterms:created xsi:type="dcterms:W3CDTF">2013-01-27T09:14:16Z</dcterms:created>
  <dcterms:modified xsi:type="dcterms:W3CDTF">2026-10-16T07:08:20Z</dcterms:modified>
  <cp:category/>
</cp:coreProperties>
</file>